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601465"/>
            <a:ext cx="4667845" cy="76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Housing Sales Analytics Dashboard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52577" y="2567657"/>
            <a:ext cx="4667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decision-support system converting raw transaction data into actionable insights for sales and pricing management — covering regional performance, channel dynamics, property segmentation, and market context.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52577" y="3343126"/>
            <a:ext cx="1331193" cy="198834"/>
          </a:xfrm>
          <a:prstGeom prst="roundRect">
            <a:avLst>
              <a:gd name="adj" fmla="val 7901"/>
            </a:avLst>
          </a:prstGeom>
          <a:solidFill>
            <a:srgbClr val="054842"/>
          </a:solidFill>
          <a:ln/>
        </p:spPr>
      </p:sp>
      <p:sp>
        <p:nvSpPr>
          <p:cNvPr id="6" name="Text 3"/>
          <p:cNvSpPr/>
          <p:nvPr/>
        </p:nvSpPr>
        <p:spPr>
          <a:xfrm>
            <a:off x="4031084" y="3382342"/>
            <a:ext cx="1631379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BUSINESS INTELLIGENCE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349180" y="3343126"/>
            <a:ext cx="1218381" cy="198834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7687" y="3382342"/>
            <a:ext cx="1518568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POWER BI + BIGQUERY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632972" y="3343126"/>
            <a:ext cx="1531367" cy="198834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0A988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11479" y="3382342"/>
            <a:ext cx="1831553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DENMARK HOUSING MARKET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01464"/>
            <a:ext cx="8096845" cy="372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Problem &amp; Objectives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3577" y="1020068"/>
            <a:ext cx="8096845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Six core challenges drive the need for an interactive reporting layer that enables decision-makers to identify growth drivers, detect declining segments, compare regional performance, and support pricing and sales strategy.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23577" y="1557561"/>
            <a:ext cx="3987031" cy="1112713"/>
          </a:xfrm>
          <a:prstGeom prst="roundRect">
            <a:avLst>
              <a:gd name="adj" fmla="val 1710"/>
            </a:avLst>
          </a:prstGeom>
          <a:solidFill>
            <a:srgbClr val="304755"/>
          </a:solidFill>
          <a:ln/>
        </p:spPr>
      </p:sp>
      <p:sp>
        <p:nvSpPr>
          <p:cNvPr id="5" name="Text 3"/>
          <p:cNvSpPr/>
          <p:nvPr/>
        </p:nvSpPr>
        <p:spPr>
          <a:xfrm>
            <a:off x="650379" y="1684362"/>
            <a:ext cx="3733428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Sales Visibility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0379" y="1944514"/>
            <a:ext cx="3733428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Quick view of whether sales are growing or declining and which types drive change.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33392" y="1557561"/>
            <a:ext cx="3987031" cy="1112713"/>
          </a:xfrm>
          <a:prstGeom prst="roundRect">
            <a:avLst>
              <a:gd name="adj" fmla="val 1710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4760193" y="1684362"/>
            <a:ext cx="3733428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Regional Performance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60193" y="1944514"/>
            <a:ext cx="3733428" cy="598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Different regions have different sales volumes and price movements; weak regions need investigation while strong regions may offer expansion opportunities.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23577" y="2793057"/>
            <a:ext cx="3987031" cy="913061"/>
          </a:xfrm>
          <a:prstGeom prst="roundRect">
            <a:avLst>
              <a:gd name="adj" fmla="val 2083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650379" y="2919859"/>
            <a:ext cx="3733428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Channel Behavior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0379" y="3180011"/>
            <a:ext cx="3733428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Auction, regular, other, and family sales may behave differently, but raw data does not make those differences immediately visible.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33392" y="2793057"/>
            <a:ext cx="3987031" cy="913061"/>
          </a:xfrm>
          <a:prstGeom prst="roundRect">
            <a:avLst>
              <a:gd name="adj" fmla="val 2083"/>
            </a:avLst>
          </a:prstGeom>
          <a:solidFill>
            <a:srgbClr val="304755"/>
          </a:solidFill>
          <a:ln/>
        </p:spPr>
      </p:sp>
      <p:sp>
        <p:nvSpPr>
          <p:cNvPr id="14" name="Text 12"/>
          <p:cNvSpPr/>
          <p:nvPr/>
        </p:nvSpPr>
        <p:spPr>
          <a:xfrm>
            <a:off x="4760193" y="2919859"/>
            <a:ext cx="3733428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Pricing Decisions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60193" y="3180011"/>
            <a:ext cx="3733428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Offer price, purchase price, and price-per-SQM relationships need to be analyzed to understand pricing behavior.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3577" y="3828901"/>
            <a:ext cx="3987031" cy="913061"/>
          </a:xfrm>
          <a:prstGeom prst="roundRect">
            <a:avLst>
              <a:gd name="adj" fmla="val 2083"/>
            </a:avLst>
          </a:prstGeom>
          <a:solidFill>
            <a:srgbClr val="304755"/>
          </a:solidFill>
          <a:ln/>
        </p:spPr>
      </p:sp>
      <p:sp>
        <p:nvSpPr>
          <p:cNvPr id="17" name="Text 15"/>
          <p:cNvSpPr/>
          <p:nvPr/>
        </p:nvSpPr>
        <p:spPr>
          <a:xfrm>
            <a:off x="650379" y="3955703"/>
            <a:ext cx="3733428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Property Segmentation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50379" y="4215854"/>
            <a:ext cx="3733428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House types differ substantially in average transaction value, size, and market indicators.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33392" y="3828901"/>
            <a:ext cx="3987031" cy="913061"/>
          </a:xfrm>
          <a:prstGeom prst="roundRect">
            <a:avLst>
              <a:gd name="adj" fmla="val 2083"/>
            </a:avLst>
          </a:prstGeom>
          <a:solidFill>
            <a:srgbClr val="304755"/>
          </a:solidFill>
          <a:ln/>
        </p:spPr>
      </p:sp>
      <p:sp>
        <p:nvSpPr>
          <p:cNvPr id="20" name="Text 18"/>
          <p:cNvSpPr/>
          <p:nvPr/>
        </p:nvSpPr>
        <p:spPr>
          <a:xfrm>
            <a:off x="4760193" y="3955703"/>
            <a:ext cx="3733428" cy="186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Quality &amp; Reporting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60193" y="4215854"/>
            <a:ext cx="3733428" cy="399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Raw transaction data contains missing values and requires cleaning, transformation, and repeatable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31974"/>
            <a:ext cx="8096845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Analytics Approach &amp; Solution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3577" y="943198"/>
            <a:ext cx="8554045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project follows a structured seven-stage pipeline from raw CSV data to a published, scheduled-refresh Power BI report — supporting descriptive and diagnostic analytics.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23577" y="1210791"/>
            <a:ext cx="22086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23577" y="1384176"/>
            <a:ext cx="2636788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6" name="Text 4"/>
          <p:cNvSpPr/>
          <p:nvPr/>
        </p:nvSpPr>
        <p:spPr>
          <a:xfrm>
            <a:off x="523577" y="1467966"/>
            <a:ext cx="263678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Ingest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3577" y="1686223"/>
            <a:ext cx="26367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Loaded the housing CSV dataset into Google BigQuery.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53532" y="1210791"/>
            <a:ext cx="22086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53532" y="1384176"/>
            <a:ext cx="2636862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0" name="Text 8"/>
          <p:cNvSpPr/>
          <p:nvPr/>
        </p:nvSpPr>
        <p:spPr>
          <a:xfrm>
            <a:off x="3253532" y="1467966"/>
            <a:ext cx="263686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SQL Analysis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53532" y="1686223"/>
            <a:ext cx="2636862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Created a test table, inspected records, calculated average purchase price by sales type, and performed data updates/validation.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83560" y="1210791"/>
            <a:ext cx="22086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83560" y="1384176"/>
            <a:ext cx="2636788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4" name="Text 12"/>
          <p:cNvSpPr/>
          <p:nvPr/>
        </p:nvSpPr>
        <p:spPr>
          <a:xfrm>
            <a:off x="5983560" y="1467966"/>
            <a:ext cx="263678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Power BI Connection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83560" y="1686223"/>
            <a:ext cx="26367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Connected BigQuery to Power BI Desktop for reporting.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23577" y="2350666"/>
            <a:ext cx="22086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3577" y="2524051"/>
            <a:ext cx="2636788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8" name="Text 16"/>
          <p:cNvSpPr/>
          <p:nvPr/>
        </p:nvSpPr>
        <p:spPr>
          <a:xfrm>
            <a:off x="523577" y="2607841"/>
            <a:ext cx="263678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3577" y="2826097"/>
            <a:ext cx="263678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Used Power Query to remove relevant null/missing values and prepare fields for analysis.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53532" y="2350666"/>
            <a:ext cx="22086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53532" y="2524051"/>
            <a:ext cx="2636862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2" name="Text 20"/>
          <p:cNvSpPr/>
          <p:nvPr/>
        </p:nvSpPr>
        <p:spPr>
          <a:xfrm>
            <a:off x="3253532" y="2607841"/>
            <a:ext cx="263686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DAX Modeling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53532" y="2826097"/>
            <a:ext cx="263686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Created sales growth, rolling sales, YTD, units sold, pricing, and segmentation measures/columns.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83560" y="2350666"/>
            <a:ext cx="22086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3560" y="2524051"/>
            <a:ext cx="2636788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6" name="Text 24"/>
          <p:cNvSpPr/>
          <p:nvPr/>
        </p:nvSpPr>
        <p:spPr>
          <a:xfrm>
            <a:off x="5983560" y="2607841"/>
            <a:ext cx="263678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3560" y="2826097"/>
            <a:ext cx="2636788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Built three dashboard pages: House Market Overview, Sales Performance, and House Type Analysis.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23577" y="3327722"/>
            <a:ext cx="220861" cy="138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07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3577" y="3501107"/>
            <a:ext cx="8096771" cy="14288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0" name="Text 28"/>
          <p:cNvSpPr/>
          <p:nvPr/>
        </p:nvSpPr>
        <p:spPr>
          <a:xfrm>
            <a:off x="523577" y="3584897"/>
            <a:ext cx="809677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3577" y="3803154"/>
            <a:ext cx="809677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Published the report to Power BI Service with a workspace and scheduled refresh.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23577" y="4153570"/>
            <a:ext cx="8096845" cy="557882"/>
          </a:xfrm>
          <a:prstGeom prst="roundRect">
            <a:avLst>
              <a:gd name="adj" fmla="val 2970"/>
            </a:avLst>
          </a:prstGeom>
          <a:solidFill>
            <a:srgbClr val="08786D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08" y="4287217"/>
            <a:ext cx="138038" cy="11043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882476" y="4274344"/>
            <a:ext cx="7627516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Key analytical principle:</a:t>
            </a:r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The dashboard supports descriptive and diagnostic analytics — showing what happened and where differences exist. It does not by itself prove that one factor caused a sales change.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3245"/>
            <a:ext cx="80968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KPI Framework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23577" y="1033760"/>
            <a:ext cx="855404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Nine key performance indicators track sales, pricing, and property metrics across regions and channels.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23577" y="1326877"/>
            <a:ext cx="8096845" cy="3333304"/>
          </a:xfrm>
          <a:prstGeom prst="roundRect">
            <a:avLst>
              <a:gd name="adj" fmla="val 525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23577" y="1644476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1959694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2274912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23577" y="2590130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3577" y="2905348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577" y="3220566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3577" y="3535784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23577" y="4027363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23577" y="4342581"/>
            <a:ext cx="8096845" cy="728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4872" y="1398687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KPI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8532" y="1398687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Business Purpose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4872" y="1713905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YOY Sales Growth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688532" y="1713905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Measures year-over-year change in purchase sales and compares sales types.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872" y="2029123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Rolling 12-Month Sales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88532" y="2029123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Tracks sales value over the latest 12-month period; dashboard value ≈ 13bn.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872" y="2344341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Units Sold – Latest Year &amp; Quarter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88532" y="2344341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Distinct property count for the latest year/quarter; dashboard value = 77.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872" y="2659559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Total YTD Sales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8532" y="2659559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Tracks cumulative sales from the start of the year.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872" y="2974777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Median Sales Price Change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88532" y="2974777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Compares current-year and prior-year median purchase price by region.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4872" y="3289995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Average Price SQM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88532" y="3289995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Compares property price per square meter across regions.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4872" y="3605213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Offer Price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88532" y="3605213"/>
            <a:ext cx="381059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Derived from purchase price and the dataset's offer-to-purchase percentage change.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4872" y="4096792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Offer-to-SQM Ratio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88532" y="4096792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Compares total offer value with total property area by sales type.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4872" y="4412010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Property 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88532" y="4412010"/>
            <a:ext cx="4267795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Difference between transaction year and construction year.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66117"/>
            <a:ext cx="8096845" cy="252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1 — House Market Overview</a:t>
            </a:r>
            <a:endParaRPr lang="en-US" sz="1550" dirty="0"/>
          </a:p>
        </p:txBody>
      </p:sp>
      <p:sp>
        <p:nvSpPr>
          <p:cNvPr id="3" name="Text 1"/>
          <p:cNvSpPr/>
          <p:nvPr/>
        </p:nvSpPr>
        <p:spPr>
          <a:xfrm>
            <a:off x="523577" y="759619"/>
            <a:ext cx="3943648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Median Sales Price Change by Region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949300"/>
            <a:ext cx="3943648" cy="2838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81538" y="759619"/>
            <a:ext cx="3943648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YOY Sales Growth by Sales Type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38" y="949300"/>
            <a:ext cx="3943648" cy="28385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77" y="3957637"/>
            <a:ext cx="4013150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77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77" y="4326359"/>
            <a:ext cx="4013150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Units Sold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523577" y="4486424"/>
            <a:ext cx="4013150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Latest year &amp; quarter</a:t>
            </a:r>
            <a:endParaRPr lang="en-US" sz="650" dirty="0"/>
          </a:p>
        </p:txBody>
      </p:sp>
      <p:sp>
        <p:nvSpPr>
          <p:cNvPr id="10" name="Text 6"/>
          <p:cNvSpPr/>
          <p:nvPr/>
        </p:nvSpPr>
        <p:spPr>
          <a:xfrm>
            <a:off x="4607198" y="3957637"/>
            <a:ext cx="4013225" cy="283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13bn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607198" y="4326359"/>
            <a:ext cx="4013225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12-Month Sales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4607198" y="4486424"/>
            <a:ext cx="4013225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Rolling 12-month value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523577" y="4663604"/>
            <a:ext cx="8554045" cy="113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Offer price vs. purchase price scatter shows a strong diagonal correlation, confirming tight alignment between asking and final transaction values across the dataset.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10282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2 — Sales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357015"/>
            <a:ext cx="809684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Regional sales volume reveals strong concentration in Zealand (95bn) and Jutland (81bn), while Fyn &amp; Islands (15bn) and Bornholm (1bn) represent smaller markets. Zealand also leads in average price per SQM at 20.85K, supporting differentiated pricing and market strategy by region.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923083"/>
            <a:ext cx="3982938" cy="11895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5909" y="2068264"/>
            <a:ext cx="36354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Regional Sales Volume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5909" y="2339280"/>
            <a:ext cx="3635425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Zealand: 95bn · Jutland: 81bn · Fyn &amp; Islands: 15bn · Bornholm: 1bn. Two regions account for the vast majority of reported sales values.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410" y="1923083"/>
            <a:ext cx="3983013" cy="11895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9742" y="2068264"/>
            <a:ext cx="36354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Average Price per SQM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39742" y="2339280"/>
            <a:ext cx="3635499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Zealand leads at 20.85K, followed by Fyn &amp; Islands at 13.62K and Bornholm at 10.6K. This supports differentiated pricing and market strategy by region.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77" y="3243560"/>
            <a:ext cx="3982938" cy="11895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5909" y="3388742"/>
            <a:ext cx="363542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Influencers on Purchase Price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25909" y="3659758"/>
            <a:ext cx="363542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Property age is a significant driver: homes aged 2–16 years show an average price increase of 490.6K, while those over 75 years show 403.5K.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410" y="3243560"/>
            <a:ext cx="3983013" cy="118958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39742" y="3388742"/>
            <a:ext cx="3635499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Offer-to-SQM Ratio by Sales Type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39742" y="3659758"/>
            <a:ext cx="3635499" cy="418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Regular sale: 15K · Other sale: 14K · Family sale: 12K · Auction: 11K. Provides a useful benchmark for pricing by sales channel.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86581"/>
            <a:ext cx="8096845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3 — House Type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23577" y="683344"/>
            <a:ext cx="3963591" cy="10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Avg Offer / Purchase Price by House Type (M)</a:t>
            </a:r>
            <a:endParaRPr lang="en-US" sz="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827187"/>
            <a:ext cx="3963591" cy="28529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1595" y="683344"/>
            <a:ext cx="3963591" cy="10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Avg SQM Price by House Type (K)</a:t>
            </a:r>
            <a:endParaRPr lang="en-US" sz="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595" y="827187"/>
            <a:ext cx="3963591" cy="2852961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23577" y="3763194"/>
            <a:ext cx="8096845" cy="866924"/>
          </a:xfrm>
          <a:prstGeom prst="roundRect">
            <a:avLst>
              <a:gd name="adj" fmla="val 1203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23577" y="3909268"/>
            <a:ext cx="8096845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523577" y="4052962"/>
            <a:ext cx="8096845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523577" y="4196655"/>
            <a:ext cx="8096845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523577" y="4340349"/>
            <a:ext cx="8096845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523577" y="4484043"/>
            <a:ext cx="8096845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597843" y="379482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House Type</a:t>
            </a:r>
            <a:endParaRPr lang="en-US" sz="500" dirty="0"/>
          </a:p>
        </p:txBody>
      </p:sp>
      <p:sp>
        <p:nvSpPr>
          <p:cNvPr id="14" name="Text 10"/>
          <p:cNvSpPr/>
          <p:nvPr/>
        </p:nvSpPr>
        <p:spPr>
          <a:xfrm>
            <a:off x="2215307" y="379482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Inflation</a:t>
            </a:r>
            <a:endParaRPr lang="en-US" sz="500" dirty="0"/>
          </a:p>
        </p:txBody>
      </p:sp>
      <p:sp>
        <p:nvSpPr>
          <p:cNvPr id="15" name="Text 11"/>
          <p:cNvSpPr/>
          <p:nvPr/>
        </p:nvSpPr>
        <p:spPr>
          <a:xfrm>
            <a:off x="3832771" y="379482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Interest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5450235" y="379482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Yield</a:t>
            </a:r>
            <a:endParaRPr lang="en-US" sz="500" dirty="0"/>
          </a:p>
        </p:txBody>
      </p:sp>
      <p:sp>
        <p:nvSpPr>
          <p:cNvPr id="17" name="Text 13"/>
          <p:cNvSpPr/>
          <p:nvPr/>
        </p:nvSpPr>
        <p:spPr>
          <a:xfrm>
            <a:off x="7067699" y="379482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Avg SQM</a:t>
            </a:r>
            <a:endParaRPr lang="en-US" sz="500" dirty="0"/>
          </a:p>
        </p:txBody>
      </p:sp>
      <p:sp>
        <p:nvSpPr>
          <p:cNvPr id="18" name="Text 14"/>
          <p:cNvSpPr/>
          <p:nvPr/>
        </p:nvSpPr>
        <p:spPr>
          <a:xfrm>
            <a:off x="597843" y="3938513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Farm</a:t>
            </a:r>
            <a:endParaRPr lang="en-US" sz="500" dirty="0"/>
          </a:p>
        </p:txBody>
      </p:sp>
      <p:sp>
        <p:nvSpPr>
          <p:cNvPr id="19" name="Text 15"/>
          <p:cNvSpPr/>
          <p:nvPr/>
        </p:nvSpPr>
        <p:spPr>
          <a:xfrm>
            <a:off x="2215307" y="3938513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2.0</a:t>
            </a:r>
            <a:endParaRPr lang="en-US" sz="500" dirty="0"/>
          </a:p>
        </p:txBody>
      </p:sp>
      <p:sp>
        <p:nvSpPr>
          <p:cNvPr id="20" name="Text 16"/>
          <p:cNvSpPr/>
          <p:nvPr/>
        </p:nvSpPr>
        <p:spPr>
          <a:xfrm>
            <a:off x="3832771" y="3938513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2.1</a:t>
            </a:r>
            <a:endParaRPr lang="en-US" sz="500" dirty="0"/>
          </a:p>
        </p:txBody>
      </p:sp>
      <p:sp>
        <p:nvSpPr>
          <p:cNvPr id="21" name="Text 17"/>
          <p:cNvSpPr/>
          <p:nvPr/>
        </p:nvSpPr>
        <p:spPr>
          <a:xfrm>
            <a:off x="5450235" y="3938513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4.6</a:t>
            </a:r>
            <a:endParaRPr lang="en-US" sz="500" dirty="0"/>
          </a:p>
        </p:txBody>
      </p:sp>
      <p:sp>
        <p:nvSpPr>
          <p:cNvPr id="22" name="Text 18"/>
          <p:cNvSpPr/>
          <p:nvPr/>
        </p:nvSpPr>
        <p:spPr>
          <a:xfrm>
            <a:off x="7067699" y="3938513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196.32</a:t>
            </a:r>
            <a:endParaRPr lang="en-US" sz="500" dirty="0"/>
          </a:p>
        </p:txBody>
      </p:sp>
      <p:sp>
        <p:nvSpPr>
          <p:cNvPr id="23" name="Text 19"/>
          <p:cNvSpPr/>
          <p:nvPr/>
        </p:nvSpPr>
        <p:spPr>
          <a:xfrm>
            <a:off x="597843" y="408220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Villa</a:t>
            </a:r>
            <a:endParaRPr lang="en-US" sz="500" dirty="0"/>
          </a:p>
        </p:txBody>
      </p:sp>
      <p:sp>
        <p:nvSpPr>
          <p:cNvPr id="24" name="Text 20"/>
          <p:cNvSpPr/>
          <p:nvPr/>
        </p:nvSpPr>
        <p:spPr>
          <a:xfrm>
            <a:off x="2215307" y="408220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1.9</a:t>
            </a:r>
            <a:endParaRPr lang="en-US" sz="500" dirty="0"/>
          </a:p>
        </p:txBody>
      </p:sp>
      <p:sp>
        <p:nvSpPr>
          <p:cNvPr id="25" name="Text 21"/>
          <p:cNvSpPr/>
          <p:nvPr/>
        </p:nvSpPr>
        <p:spPr>
          <a:xfrm>
            <a:off x="3832771" y="408220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1.8</a:t>
            </a:r>
            <a:endParaRPr lang="en-US" sz="500" dirty="0"/>
          </a:p>
        </p:txBody>
      </p:sp>
      <p:sp>
        <p:nvSpPr>
          <p:cNvPr id="26" name="Text 22"/>
          <p:cNvSpPr/>
          <p:nvPr/>
        </p:nvSpPr>
        <p:spPr>
          <a:xfrm>
            <a:off x="5450235" y="408220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4.2</a:t>
            </a:r>
            <a:endParaRPr lang="en-US" sz="500" dirty="0"/>
          </a:p>
        </p:txBody>
      </p:sp>
      <p:sp>
        <p:nvSpPr>
          <p:cNvPr id="27" name="Text 23"/>
          <p:cNvSpPr/>
          <p:nvPr/>
        </p:nvSpPr>
        <p:spPr>
          <a:xfrm>
            <a:off x="7067699" y="408220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152.05</a:t>
            </a:r>
            <a:endParaRPr lang="en-US" sz="500" dirty="0"/>
          </a:p>
        </p:txBody>
      </p:sp>
      <p:sp>
        <p:nvSpPr>
          <p:cNvPr id="28" name="Text 24"/>
          <p:cNvSpPr/>
          <p:nvPr/>
        </p:nvSpPr>
        <p:spPr>
          <a:xfrm>
            <a:off x="597843" y="422590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Apartment</a:t>
            </a:r>
            <a:endParaRPr lang="en-US" sz="500" dirty="0"/>
          </a:p>
        </p:txBody>
      </p:sp>
      <p:sp>
        <p:nvSpPr>
          <p:cNvPr id="29" name="Text 25"/>
          <p:cNvSpPr/>
          <p:nvPr/>
        </p:nvSpPr>
        <p:spPr>
          <a:xfrm>
            <a:off x="2215307" y="422590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1.9</a:t>
            </a:r>
            <a:endParaRPr lang="en-US" sz="500" dirty="0"/>
          </a:p>
        </p:txBody>
      </p:sp>
      <p:sp>
        <p:nvSpPr>
          <p:cNvPr id="30" name="Text 26"/>
          <p:cNvSpPr/>
          <p:nvPr/>
        </p:nvSpPr>
        <p:spPr>
          <a:xfrm>
            <a:off x="3832771" y="422590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1.5</a:t>
            </a:r>
            <a:endParaRPr lang="en-US" sz="500" dirty="0"/>
          </a:p>
        </p:txBody>
      </p:sp>
      <p:sp>
        <p:nvSpPr>
          <p:cNvPr id="31" name="Text 27"/>
          <p:cNvSpPr/>
          <p:nvPr/>
        </p:nvSpPr>
        <p:spPr>
          <a:xfrm>
            <a:off x="5450235" y="422590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3.9</a:t>
            </a:r>
            <a:endParaRPr lang="en-US" sz="500" dirty="0"/>
          </a:p>
        </p:txBody>
      </p:sp>
      <p:sp>
        <p:nvSpPr>
          <p:cNvPr id="32" name="Text 28"/>
          <p:cNvSpPr/>
          <p:nvPr/>
        </p:nvSpPr>
        <p:spPr>
          <a:xfrm>
            <a:off x="7067699" y="4225900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86.67</a:t>
            </a:r>
            <a:endParaRPr lang="en-US" sz="500" dirty="0"/>
          </a:p>
        </p:txBody>
      </p:sp>
      <p:sp>
        <p:nvSpPr>
          <p:cNvPr id="33" name="Text 29"/>
          <p:cNvSpPr/>
          <p:nvPr/>
        </p:nvSpPr>
        <p:spPr>
          <a:xfrm>
            <a:off x="597843" y="4369594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Townhouse</a:t>
            </a:r>
            <a:endParaRPr lang="en-US" sz="500" dirty="0"/>
          </a:p>
        </p:txBody>
      </p:sp>
      <p:sp>
        <p:nvSpPr>
          <p:cNvPr id="34" name="Text 30"/>
          <p:cNvSpPr/>
          <p:nvPr/>
        </p:nvSpPr>
        <p:spPr>
          <a:xfrm>
            <a:off x="2215307" y="4369594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1.9</a:t>
            </a:r>
            <a:endParaRPr lang="en-US" sz="500" dirty="0"/>
          </a:p>
        </p:txBody>
      </p:sp>
      <p:sp>
        <p:nvSpPr>
          <p:cNvPr id="35" name="Text 31"/>
          <p:cNvSpPr/>
          <p:nvPr/>
        </p:nvSpPr>
        <p:spPr>
          <a:xfrm>
            <a:off x="3832771" y="4369594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1.5</a:t>
            </a:r>
            <a:endParaRPr lang="en-US" sz="500" dirty="0"/>
          </a:p>
        </p:txBody>
      </p:sp>
      <p:sp>
        <p:nvSpPr>
          <p:cNvPr id="36" name="Text 32"/>
          <p:cNvSpPr/>
          <p:nvPr/>
        </p:nvSpPr>
        <p:spPr>
          <a:xfrm>
            <a:off x="5450235" y="4369594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3.9</a:t>
            </a:r>
            <a:endParaRPr lang="en-US" sz="500" dirty="0"/>
          </a:p>
        </p:txBody>
      </p:sp>
      <p:sp>
        <p:nvSpPr>
          <p:cNvPr id="37" name="Text 33"/>
          <p:cNvSpPr/>
          <p:nvPr/>
        </p:nvSpPr>
        <p:spPr>
          <a:xfrm>
            <a:off x="7067699" y="4369594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108.51</a:t>
            </a:r>
            <a:endParaRPr lang="en-US" sz="500" dirty="0"/>
          </a:p>
        </p:txBody>
      </p:sp>
      <p:sp>
        <p:nvSpPr>
          <p:cNvPr id="38" name="Text 34"/>
          <p:cNvSpPr/>
          <p:nvPr/>
        </p:nvSpPr>
        <p:spPr>
          <a:xfrm>
            <a:off x="597843" y="451328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Summerhouse</a:t>
            </a:r>
            <a:endParaRPr lang="en-US" sz="500" dirty="0"/>
          </a:p>
        </p:txBody>
      </p:sp>
      <p:sp>
        <p:nvSpPr>
          <p:cNvPr id="39" name="Text 35"/>
          <p:cNvSpPr/>
          <p:nvPr/>
        </p:nvSpPr>
        <p:spPr>
          <a:xfrm>
            <a:off x="2215307" y="451328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1.9</a:t>
            </a:r>
            <a:endParaRPr lang="en-US" sz="500" dirty="0"/>
          </a:p>
        </p:txBody>
      </p:sp>
      <p:sp>
        <p:nvSpPr>
          <p:cNvPr id="40" name="Text 36"/>
          <p:cNvSpPr/>
          <p:nvPr/>
        </p:nvSpPr>
        <p:spPr>
          <a:xfrm>
            <a:off x="3832771" y="451328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1.4</a:t>
            </a:r>
            <a:endParaRPr lang="en-US" sz="500" dirty="0"/>
          </a:p>
        </p:txBody>
      </p:sp>
      <p:sp>
        <p:nvSpPr>
          <p:cNvPr id="41" name="Text 37"/>
          <p:cNvSpPr/>
          <p:nvPr/>
        </p:nvSpPr>
        <p:spPr>
          <a:xfrm>
            <a:off x="5450235" y="451328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3.8</a:t>
            </a:r>
            <a:endParaRPr lang="en-US" sz="500" dirty="0"/>
          </a:p>
        </p:txBody>
      </p:sp>
      <p:sp>
        <p:nvSpPr>
          <p:cNvPr id="42" name="Text 38"/>
          <p:cNvSpPr/>
          <p:nvPr/>
        </p:nvSpPr>
        <p:spPr>
          <a:xfrm>
            <a:off x="7067699" y="4513287"/>
            <a:ext cx="1935659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83.78</a:t>
            </a:r>
            <a:endParaRPr lang="en-US" sz="500" dirty="0"/>
          </a:p>
        </p:txBody>
      </p:sp>
      <p:sp>
        <p:nvSpPr>
          <p:cNvPr id="43" name="Text 39"/>
          <p:cNvSpPr/>
          <p:nvPr/>
        </p:nvSpPr>
        <p:spPr>
          <a:xfrm>
            <a:off x="523577" y="4671640"/>
            <a:ext cx="8554045" cy="85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5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Inflation, interest, and yield were compared across house types. These indicators should be used as market context when explaining price and sales movements, rather than as proof of causation.</a:t>
            </a:r>
            <a:endParaRPr lang="en-US" sz="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65671"/>
            <a:ext cx="8096845" cy="324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Outcomes of the Analysis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3577" y="932111"/>
            <a:ext cx="3990156" cy="36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+29%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23577" y="1421681"/>
            <a:ext cx="399015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Auction Growth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3577" y="1639937"/>
            <a:ext cx="399015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Only channel with positive YoY growth.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630192" y="932111"/>
            <a:ext cx="3990231" cy="36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-75%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4630192" y="1421681"/>
            <a:ext cx="399023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Family Sale Decline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30192" y="1639937"/>
            <a:ext cx="399023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Largest channel decline; highest-priority review.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3577" y="2044303"/>
            <a:ext cx="3990156" cy="36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+5.3%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523577" y="2533873"/>
            <a:ext cx="399015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Jutland Price Change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3577" y="2752130"/>
            <a:ext cx="3990156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Strongest median sales-price growth among regions.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30192" y="2044303"/>
            <a:ext cx="3990231" cy="364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-5.0%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4630192" y="2533873"/>
            <a:ext cx="399023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Bornholm Price Change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30192" y="2752130"/>
            <a:ext cx="399023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Negative median price change; requires local investigation.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4103" y="3019723"/>
            <a:ext cx="4072682" cy="1758107"/>
          </a:xfrm>
          <a:prstGeom prst="roundRect">
            <a:avLst>
              <a:gd name="adj" fmla="val 942"/>
            </a:avLst>
          </a:prstGeom>
          <a:solidFill>
            <a:srgbClr val="CCCCCC"/>
          </a:solidFill>
          <a:ln/>
        </p:spPr>
      </p:sp>
      <p:sp>
        <p:nvSpPr>
          <p:cNvPr id="16" name="Text 14"/>
          <p:cNvSpPr/>
          <p:nvPr/>
        </p:nvSpPr>
        <p:spPr>
          <a:xfrm>
            <a:off x="554534" y="3112889"/>
            <a:ext cx="385182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Channel Performance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4534" y="3368427"/>
            <a:ext cx="3851821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Regular and other sales each declined 21%. Traditional channels are weakening and need corrective action. Family sales at -75% require the highest-priority diagnostic review.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11452" y="3112889"/>
            <a:ext cx="3913733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Regional &amp; Activity Metrics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11452" y="3368427"/>
            <a:ext cx="3913733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Zealand (95bn) and Jutland (81bn) dominate sales volume. Rolling 12-month sales ≈ 13bn; 77 units in latest year/quarter. These provide a current performance benchmark.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711452" y="3961656"/>
            <a:ext cx="3913733" cy="711398"/>
          </a:xfrm>
          <a:prstGeom prst="roundRect">
            <a:avLst>
              <a:gd name="adj" fmla="val 2329"/>
            </a:avLst>
          </a:prstGeom>
          <a:solidFill>
            <a:srgbClr val="08786D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1882" y="4104829"/>
            <a:ext cx="138038" cy="1104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070351" y="4073128"/>
            <a:ext cx="3444404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Available metrics are sales/transaction and pricing only. A true profit percentage cannot be calculated — percentages represent sales growth/decline and price movement, not company profit.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64554"/>
            <a:ext cx="8096845" cy="288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Proposed Business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23577" y="800621"/>
            <a:ext cx="8554045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Seven strategic actions address uneven channel performance, regional disparities, and pricing opportunities.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23577" y="1020812"/>
            <a:ext cx="220861" cy="220861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3"/>
          <p:cNvSpPr/>
          <p:nvPr/>
        </p:nvSpPr>
        <p:spPr>
          <a:xfrm>
            <a:off x="564728" y="1044625"/>
            <a:ext cx="138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18034" y="1054522"/>
            <a:ext cx="780238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Scale the Auction Growth Engine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18034" y="1243013"/>
            <a:ext cx="7802389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Auction sales grew 29% YoY. Identify the regions, cities, house types, and price bands behind this growth and test whether the same characteristics can be expanded.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23577" y="1527646"/>
            <a:ext cx="220861" cy="220861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9" name="Text 7"/>
          <p:cNvSpPr/>
          <p:nvPr/>
        </p:nvSpPr>
        <p:spPr>
          <a:xfrm>
            <a:off x="564728" y="1551459"/>
            <a:ext cx="138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8034" y="1561356"/>
            <a:ext cx="780238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Recover Declining Channels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8034" y="1749847"/>
            <a:ext cx="7802389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Regular and other sales fell 21%, while family sales fell 75%. Build a root-cause review around pricing, inventory mix, geography, property age, and customer demand.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23577" y="2034480"/>
            <a:ext cx="220861" cy="220861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3" name="Text 11"/>
          <p:cNvSpPr/>
          <p:nvPr/>
        </p:nvSpPr>
        <p:spPr>
          <a:xfrm>
            <a:off x="564728" y="2058293"/>
            <a:ext cx="138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8034" y="2068190"/>
            <a:ext cx="780238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Protect High-Value Markets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8034" y="2256681"/>
            <a:ext cx="7802389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Zealand has the highest reported sales volume at about 95bn, while Jutland shows the strongest median price growth at 5.3%. Use separate volume and growth strategies for these markets.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23577" y="2541315"/>
            <a:ext cx="220861" cy="220861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17" name="Text 15"/>
          <p:cNvSpPr/>
          <p:nvPr/>
        </p:nvSpPr>
        <p:spPr>
          <a:xfrm>
            <a:off x="564728" y="2565127"/>
            <a:ext cx="138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8034" y="2575024"/>
            <a:ext cx="780238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Address Weak Regions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8034" y="2763515"/>
            <a:ext cx="7802389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Bornholm shows a 5.0% median price decline and only about 1bn in sales in the dashboard. Review local demand, property mix, and pricing before increasing inventory.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23577" y="3048149"/>
            <a:ext cx="220861" cy="220861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21" name="Text 19"/>
          <p:cNvSpPr/>
          <p:nvPr/>
        </p:nvSpPr>
        <p:spPr>
          <a:xfrm>
            <a:off x="564728" y="3071961"/>
            <a:ext cx="138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18034" y="3081858"/>
            <a:ext cx="780238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Introduce Data-Driven Pricing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18034" y="3270349"/>
            <a:ext cx="7802389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offer price, purchase price, SQM, and SQM price together to establish pricing benchmarks by region, house type, and sales channel.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23577" y="3554983"/>
            <a:ext cx="220861" cy="220861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25" name="Text 23"/>
          <p:cNvSpPr/>
          <p:nvPr/>
        </p:nvSpPr>
        <p:spPr>
          <a:xfrm>
            <a:off x="564728" y="3578796"/>
            <a:ext cx="138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6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8034" y="3588693"/>
            <a:ext cx="780238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 Inventory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8034" y="3777183"/>
            <a:ext cx="7802389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Prioritize premium property strategies for higher-value types such as farms and apartments, while using volume/affordability strategies for lower-ticket segments such as summerhouses.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23577" y="4061817"/>
            <a:ext cx="220861" cy="220861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29" name="Text 27"/>
          <p:cNvSpPr/>
          <p:nvPr/>
        </p:nvSpPr>
        <p:spPr>
          <a:xfrm>
            <a:off x="564728" y="4085630"/>
            <a:ext cx="13855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18034" y="4095527"/>
            <a:ext cx="7802389" cy="144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Operationalize the Dashboard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8034" y="4284018"/>
            <a:ext cx="7802389" cy="137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Keep the Power BI Service report on scheduled refresh and establish a recurring management review of YOY growth, rolling sales, regional price change, and channel performance.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23577" y="4504209"/>
            <a:ext cx="8096845" cy="274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Recommended management cadence:</a:t>
            </a:r>
            <a:pPr algn="l" indent="0" marL="0">
              <a:lnSpc>
                <a:spcPct val="117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Weekly review of channel and regional anomalies, monthly review of pricing and inventory mix, and quarterly review of growth strategy and regional expansion.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8957"/>
            <a:ext cx="8096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Executive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115690"/>
            <a:ext cx="8096845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housing sales analytics project converts raw transaction data into a decision-support system for sales and pricing management. Performance is highly uneven: auction sales grew 29% YoY while family sales declined 75%. Jutland recorded the strongest median price growth at 5.3%, whereas Bornholm declined by 5.0%. At the sales-volume level, Zealand reported approximately 95bn and Jutland 81bn in the dashboard.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3577" y="1891159"/>
            <a:ext cx="8096845" cy="1484412"/>
          </a:xfrm>
          <a:prstGeom prst="roundRect">
            <a:avLst>
              <a:gd name="adj" fmla="val 1323"/>
            </a:avLst>
          </a:prstGeom>
          <a:solidFill>
            <a:srgbClr val="304755"/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1891159"/>
            <a:ext cx="4048423" cy="742206"/>
          </a:xfrm>
          <a:custGeom>
            <a:avLst/>
            <a:gdLst/>
            <a:ahLst/>
            <a:cxnLst/>
            <a:rect l="l" t="t" r="r" b="b"/>
            <a:pathLst>
              <a:path w="4048423" h="742206">
                <a:moveTo>
                  <a:pt x="16364" y="0"/>
                </a:moveTo>
                <a:lnTo>
                  <a:pt x="4048423" y="0"/>
                </a:lnTo>
                <a:lnTo>
                  <a:pt x="4048423" y="742206"/>
                </a:lnTo>
                <a:lnTo>
                  <a:pt x="0" y="742206"/>
                </a:lnTo>
                <a:lnTo>
                  <a:pt x="0" y="16364"/>
                </a:lnTo>
                <a:arcTo hR="16364" wR="16364" stAng="10800000" swAng="5400000"/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6" name="Text 4"/>
          <p:cNvSpPr/>
          <p:nvPr/>
        </p:nvSpPr>
        <p:spPr>
          <a:xfrm>
            <a:off x="654472" y="2022053"/>
            <a:ext cx="378663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Scale Auction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4472" y="2293069"/>
            <a:ext cx="3786634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Expand the only channel with positive YoY growth.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891159"/>
            <a:ext cx="4048423" cy="742206"/>
          </a:xfrm>
          <a:custGeom>
            <a:avLst/>
            <a:gdLst/>
            <a:ahLst/>
            <a:cxnLst/>
            <a:rect l="l" t="t" r="r" b="b"/>
            <a:pathLst>
              <a:path w="4048423" h="742206">
                <a:moveTo>
                  <a:pt x="0" y="0"/>
                </a:moveTo>
                <a:lnTo>
                  <a:pt x="4032059" y="0"/>
                </a:lnTo>
                <a:arcTo hR="16364" wR="16364" stAng="16200000" swAng="5400000"/>
                <a:lnTo>
                  <a:pt x="4048423" y="742206"/>
                </a:lnTo>
                <a:lnTo>
                  <a:pt x="0" y="742206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891159"/>
            <a:ext cx="14288" cy="742206"/>
          </a:xfrm>
          <a:prstGeom prst="roundRect">
            <a:avLst>
              <a:gd name="adj" fmla="val 49998"/>
            </a:avLst>
          </a:prstGeom>
          <a:solidFill>
            <a:srgbClr val="49606E"/>
          </a:solidFill>
          <a:ln/>
        </p:spPr>
      </p:sp>
      <p:sp>
        <p:nvSpPr>
          <p:cNvPr id="10" name="Text 8"/>
          <p:cNvSpPr/>
          <p:nvPr/>
        </p:nvSpPr>
        <p:spPr>
          <a:xfrm>
            <a:off x="4702894" y="2022053"/>
            <a:ext cx="378663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Recover Channels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02894" y="2293069"/>
            <a:ext cx="3786634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Address declining sales types with root-cause analysis.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3577" y="2633365"/>
            <a:ext cx="4048423" cy="742206"/>
          </a:xfrm>
          <a:custGeom>
            <a:avLst/>
            <a:gdLst/>
            <a:ahLst/>
            <a:cxnLst/>
            <a:rect l="l" t="t" r="r" b="b"/>
            <a:pathLst>
              <a:path w="4048423" h="742206">
                <a:moveTo>
                  <a:pt x="0" y="0"/>
                </a:moveTo>
                <a:lnTo>
                  <a:pt x="4048423" y="0"/>
                </a:lnTo>
                <a:lnTo>
                  <a:pt x="4048423" y="742206"/>
                </a:lnTo>
                <a:lnTo>
                  <a:pt x="16364" y="742206"/>
                </a:lnTo>
                <a:arcTo hR="16364" wR="16364" stAng="5400000" swAng="5400000"/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3" name="Shape 11"/>
          <p:cNvSpPr/>
          <p:nvPr/>
        </p:nvSpPr>
        <p:spPr>
          <a:xfrm>
            <a:off x="523577" y="2633365"/>
            <a:ext cx="4048423" cy="14288"/>
          </a:xfrm>
          <a:prstGeom prst="roundRect">
            <a:avLst>
              <a:gd name="adj" fmla="val 49998"/>
            </a:avLst>
          </a:prstGeom>
          <a:solidFill>
            <a:srgbClr val="49606E"/>
          </a:solidFill>
          <a:ln/>
        </p:spPr>
      </p:sp>
      <p:sp>
        <p:nvSpPr>
          <p:cNvPr id="14" name="Text 12"/>
          <p:cNvSpPr/>
          <p:nvPr/>
        </p:nvSpPr>
        <p:spPr>
          <a:xfrm>
            <a:off x="654472" y="2764259"/>
            <a:ext cx="378663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Protect Markets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4472" y="3035275"/>
            <a:ext cx="3786634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Defend high-volume and high-growth regions.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633365"/>
            <a:ext cx="4048423" cy="742206"/>
          </a:xfrm>
          <a:custGeom>
            <a:avLst/>
            <a:gdLst/>
            <a:ahLst/>
            <a:cxnLst/>
            <a:rect l="l" t="t" r="r" b="b"/>
            <a:pathLst>
              <a:path w="4048423" h="742206">
                <a:moveTo>
                  <a:pt x="0" y="0"/>
                </a:moveTo>
                <a:lnTo>
                  <a:pt x="4048423" y="0"/>
                </a:lnTo>
                <a:lnTo>
                  <a:pt x="4048423" y="725842"/>
                </a:lnTo>
                <a:arcTo hR="16364" wR="16364" stAng="0" swAng="5400000"/>
                <a:lnTo>
                  <a:pt x="0" y="742206"/>
                </a:lnTo>
                <a:lnTo>
                  <a:pt x="0" y="0"/>
                </a:lnTo>
                <a:close/>
              </a:path>
            </a:pathLst>
          </a:custGeom>
          <a:solidFill>
            <a:srgbClr val="30475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0" y="2633365"/>
            <a:ext cx="14288" cy="742206"/>
          </a:xfrm>
          <a:prstGeom prst="roundRect">
            <a:avLst>
              <a:gd name="adj" fmla="val 49998"/>
            </a:avLst>
          </a:prstGeom>
          <a:solidFill>
            <a:srgbClr val="49606E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0" y="2633365"/>
            <a:ext cx="4048423" cy="14288"/>
          </a:xfrm>
          <a:prstGeom prst="roundRect">
            <a:avLst>
              <a:gd name="adj" fmla="val 49998"/>
            </a:avLst>
          </a:prstGeom>
          <a:solidFill>
            <a:srgbClr val="49606E"/>
          </a:solidFill>
          <a:ln/>
        </p:spPr>
      </p:sp>
      <p:sp>
        <p:nvSpPr>
          <p:cNvPr id="19" name="Text 17"/>
          <p:cNvSpPr/>
          <p:nvPr/>
        </p:nvSpPr>
        <p:spPr>
          <a:xfrm>
            <a:off x="4702894" y="2764259"/>
            <a:ext cx="3786634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Price Intelligently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2894" y="3035275"/>
            <a:ext cx="3786634" cy="20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property-level benchmarks to improve conversion.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3577" y="3522836"/>
            <a:ext cx="8096845" cy="1151632"/>
          </a:xfrm>
          <a:prstGeom prst="roundRect">
            <a:avLst>
              <a:gd name="adj" fmla="val 1705"/>
            </a:avLst>
          </a:prstGeom>
          <a:solidFill>
            <a:srgbClr val="08786D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472" y="3709913"/>
            <a:ext cx="163637" cy="130894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949003" y="3686398"/>
            <a:ext cx="7540526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Next step:</a:t>
            </a:r>
            <a:pPr algn="l" indent="0" marL="0">
              <a:lnSpc>
                <a:spcPct val="133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The project establishes a reusable BI architecture — BigQuery + SQL + Power BI + DAX + Power BI Service — that can be extended with profit/margin data, customer segmentation, inventory availability, conversion rates, and forecasting in a future phase. Connect these insights to costs, margins, inventory, and conversion data so that sales growth can be translated into measurable profitability.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2026-08-17T11:21:23Z</dcterms:created>
  <dcterms:modified xsi:type="dcterms:W3CDTF">2026-08-17T11:21:23Z</dcterms:modified>
</cp:coreProperties>
</file>